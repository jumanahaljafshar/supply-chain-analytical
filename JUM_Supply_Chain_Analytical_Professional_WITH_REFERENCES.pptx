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006C35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Domestic Economy</c:v>
                </c:pt>
                <c:pt idx="1">
                  <c:v>Domestic Express</c:v>
                </c:pt>
                <c:pt idx="2">
                  <c:v>International Economy</c:v>
                </c:pt>
                <c:pt idx="3">
                  <c:v>International Express</c:v>
                </c:pt>
                <c:pt idx="4">
                  <c:v>Cargo Land</c:v>
                </c:pt>
                <c:pt idx="5">
                  <c:v>Cargo Sea</c:v>
                </c:pt>
                <c:pt idx="6">
                  <c:v>Cargo Air</c:v>
                </c:pt>
                <c:pt idx="7">
                  <c:v>Return Service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240228.49</c:v>
                </c:pt>
                <c:pt idx="1">
                  <c:v>157356.93</c:v>
                </c:pt>
                <c:pt idx="2">
                  <c:v>99674.93</c:v>
                </c:pt>
                <c:pt idx="3">
                  <c:v>110136.95</c:v>
                </c:pt>
                <c:pt idx="4">
                  <c:v>68312.100000000006</c:v>
                </c:pt>
                <c:pt idx="5">
                  <c:v>44414.48</c:v>
                </c:pt>
                <c:pt idx="6">
                  <c:v>33128.44</c:v>
                </c:pt>
                <c:pt idx="7">
                  <c:v>181836.68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B12-4DC4-AF5E-02143DA971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2F0E6"/>
                </a:solidFill>
              </a:defRPr>
            </a:pPr>
            <a:r>
              <a:t>01</a:t>
            </a:r>
          </a:p>
        </p:txBody>
      </p:sp>
      <p:sp>
        <p:nvSpPr>
          <p:cNvPr id="5" name="Oval 4"/>
          <p:cNvSpPr/>
          <p:nvPr/>
        </p:nvSpPr>
        <p:spPr>
          <a:xfrm>
            <a:off x="9601200" y="548640"/>
            <a:ext cx="1828800" cy="1828800"/>
          </a:xfrm>
          <a:prstGeom prst="ellipse">
            <a:avLst/>
          </a:prstGeom>
          <a:solidFill>
            <a:srgbClr val="D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0" y="91440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051560"/>
            <a:ext cx="93268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t>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64208"/>
            <a:ext cx="987552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t>ANALYTICAL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87168"/>
            <a:ext cx="8686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0">
                <a:solidFill>
                  <a:srgbClr val="DCF2E8"/>
                </a:solidFill>
              </a:defRPr>
            </a:pPr>
            <a:r>
              <a:t>Profitability  •  Operations  •  KPIs  •  Procurement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77639"/>
            <a:ext cx="1965960" cy="1143000"/>
          </a:xfrm>
          <a:prstGeom prst="roundRect">
            <a:avLst/>
          </a:prstGeom>
          <a:solidFill>
            <a:srgbClr val="08522A"/>
          </a:solidFill>
          <a:ln>
            <a:solidFill>
              <a:srgbClr val="50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72768" y="4535423"/>
            <a:ext cx="118872" cy="256032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73936" y="4352544"/>
            <a:ext cx="118872" cy="438912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75104" y="4169663"/>
            <a:ext cx="118872" cy="621792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754880"/>
            <a:ext cx="1691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977639"/>
            <a:ext cx="1965960" cy="1143000"/>
          </a:xfrm>
          <a:prstGeom prst="roundRect">
            <a:avLst/>
          </a:prstGeom>
          <a:solidFill>
            <a:srgbClr val="08522A"/>
          </a:solidFill>
          <a:ln>
            <a:solidFill>
              <a:srgbClr val="50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918203" y="4146803"/>
            <a:ext cx="566928" cy="566928"/>
          </a:xfrm>
          <a:prstGeom prst="ellipse">
            <a:avLst/>
          </a:prstGeom>
          <a:solidFill>
            <a:srgbClr val="DDF7F1"/>
          </a:solidFill>
          <a:ln w="25400"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009644" y="4238244"/>
            <a:ext cx="384048" cy="384048"/>
          </a:xfrm>
          <a:prstGeom prst="ellipse">
            <a:avLst/>
          </a:prstGeom>
          <a:solidFill>
            <a:srgbClr val="DDF7F1"/>
          </a:solidFill>
          <a:ln w="25400"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101083" y="4329683"/>
            <a:ext cx="201168" cy="201168"/>
          </a:xfrm>
          <a:prstGeom prst="ellipse">
            <a:avLst/>
          </a:prstGeom>
          <a:solidFill>
            <a:srgbClr val="DDF7F1"/>
          </a:solidFill>
          <a:ln w="25400"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79" y="4754880"/>
            <a:ext cx="1691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3977639"/>
            <a:ext cx="1965960" cy="1143000"/>
          </a:xfrm>
          <a:prstGeom prst="roundRect">
            <a:avLst/>
          </a:prstGeom>
          <a:solidFill>
            <a:srgbClr val="08522A"/>
          </a:solidFill>
          <a:ln>
            <a:solidFill>
              <a:srgbClr val="50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36207" y="4535423"/>
            <a:ext cx="118872" cy="256032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37375" y="4352544"/>
            <a:ext cx="118872" cy="438912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38544" y="4169663"/>
            <a:ext cx="118872" cy="621792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15000" y="4754880"/>
            <a:ext cx="1691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59" y="3977639"/>
            <a:ext cx="1965960" cy="1143000"/>
          </a:xfrm>
          <a:prstGeom prst="roundRect">
            <a:avLst/>
          </a:prstGeom>
          <a:solidFill>
            <a:srgbClr val="08522A"/>
          </a:solidFill>
          <a:ln>
            <a:solidFill>
              <a:srgbClr val="50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659367" y="4178807"/>
            <a:ext cx="457200" cy="45720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9640" y="4617720"/>
            <a:ext cx="6858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650" b="1">
                <a:solidFill>
                  <a:srgbClr val="006C35"/>
                </a:solidFill>
              </a:defRPr>
            </a:pPr>
            <a:r>
              <a:t>SUPPLIER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4754880"/>
            <a:ext cx="1691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5806440"/>
            <a:ext cx="8686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DCF2E8"/>
                </a:solidFill>
              </a:defRPr>
            </a:pPr>
            <a:r>
              <a:t>30,000 synthetic shipment records  |  Excel Analytics &amp;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47395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EE1D5"/>
                </a:solidFill>
              </a:defRPr>
            </a:pPr>
            <a:r>
              <a:t>JUM Logistics  •  Supply Chain Analytical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6C35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1E"/>
                </a:solidFill>
              </a:defRPr>
            </a:pPr>
            <a:r>
              <a:t>Executive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41832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C5D57"/>
                </a:solidFill>
              </a:defRPr>
            </a:pPr>
            <a:r>
              <a:t>One-page view of the project's main business signals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874519" cy="123444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1581912"/>
            <a:ext cx="411480" cy="41148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600200"/>
            <a:ext cx="4114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006C35"/>
                </a:solidFill>
              </a:defRPr>
            </a:pPr>
            <a:r>
              <a:t>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3" y="1581912"/>
            <a:ext cx="1014983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4C5D57"/>
                </a:solidFill>
              </a:defRPr>
            </a:pPr>
            <a:r>
              <a:t>SHIPMENTS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20240"/>
            <a:ext cx="1545336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06C35"/>
                </a:solidFill>
              </a:defRPr>
            </a:pPr>
            <a:r>
              <a:t>30,000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417320"/>
            <a:ext cx="1874519" cy="123444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36392" y="1581912"/>
            <a:ext cx="411480" cy="41148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36392" y="1600200"/>
            <a:ext cx="4114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006C35"/>
                </a:solidFill>
              </a:defRPr>
            </a:pPr>
            <a: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1581912"/>
            <a:ext cx="1014983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4C5D57"/>
                </a:solidFill>
              </a:defRPr>
            </a:pPr>
            <a: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1920240"/>
            <a:ext cx="1545336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06C35"/>
                </a:solidFill>
              </a:defRPr>
            </a:pPr>
            <a:r>
              <a:t>3,495,023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417320"/>
            <a:ext cx="1874519" cy="123444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422392" y="1581912"/>
            <a:ext cx="411480" cy="41148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22392" y="1600200"/>
            <a:ext cx="4114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006C35"/>
                </a:solidFill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2744" y="1581912"/>
            <a:ext cx="1014983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4C5D57"/>
                </a:solidFill>
              </a:defRPr>
            </a:pPr>
            <a:r>
              <a:t>TOTAL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1920240"/>
            <a:ext cx="1545336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06C35"/>
                </a:solidFill>
              </a:defRPr>
            </a:pPr>
            <a:r>
              <a:t>2,559,934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1417320"/>
            <a:ext cx="1874519" cy="123444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08392" y="1581912"/>
            <a:ext cx="411480" cy="41148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08392" y="1600200"/>
            <a:ext cx="4114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006C35"/>
                </a:solidFill>
              </a:defRPr>
            </a:pPr>
            <a: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1581912"/>
            <a:ext cx="1014983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4C5D57"/>
                </a:solidFill>
              </a:defRPr>
            </a:pPr>
            <a:r>
              <a:t>PROFIT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2" y="1920240"/>
            <a:ext cx="1545336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06C35"/>
                </a:solidFill>
              </a:defRPr>
            </a:pPr>
            <a:r>
              <a:t>935,089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1417320"/>
            <a:ext cx="1874519" cy="123444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994392" y="1581912"/>
            <a:ext cx="411480" cy="41148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94392" y="1600200"/>
            <a:ext cx="4114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006C35"/>
                </a:solidFill>
              </a:defRPr>
            </a:pPr>
            <a:r>
              <a:t>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24744" y="1581912"/>
            <a:ext cx="1014983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4C5D57"/>
                </a:solidFill>
              </a:defRPr>
            </a:pPr>
            <a:r>
              <a:t>MARGIN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1920240"/>
            <a:ext cx="1545336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06C35"/>
                </a:solidFill>
              </a:defRPr>
            </a:pPr>
            <a:r>
              <a:t>26.8%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063240"/>
            <a:ext cx="3657600" cy="2468880"/>
          </a:xfrm>
          <a:prstGeom prst="roundRect">
            <a:avLst/>
          </a:prstGeom>
          <a:solidFill>
            <a:srgbClr val="F8FBFA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3310128"/>
            <a:ext cx="3200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4C5D57"/>
                </a:solidFill>
              </a:defRPr>
            </a:pPr>
            <a:r>
              <a:t>ON-TIME DELIVERY</a:t>
            </a:r>
          </a:p>
        </p:txBody>
      </p:sp>
      <p:sp>
        <p:nvSpPr>
          <p:cNvPr id="34" name="Oval 33"/>
          <p:cNvSpPr/>
          <p:nvPr/>
        </p:nvSpPr>
        <p:spPr>
          <a:xfrm>
            <a:off x="1600200" y="3657600"/>
            <a:ext cx="1508760" cy="1508760"/>
          </a:xfrm>
          <a:prstGeom prst="ellipse">
            <a:avLst/>
          </a:prstGeom>
          <a:solidFill>
            <a:srgbClr val="DDF7F1"/>
          </a:solidFill>
          <a:ln w="63500"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00200" y="4096512"/>
            <a:ext cx="15087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200" b="1">
                <a:solidFill>
                  <a:srgbClr val="006C35"/>
                </a:solidFill>
              </a:defRPr>
            </a:pPr>
            <a:r>
              <a:t>86.6%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239512"/>
            <a:ext cx="315468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50" b="0">
                <a:solidFill>
                  <a:srgbClr val="4C5D57"/>
                </a:solidFill>
              </a:defRPr>
            </a:pPr>
            <a:r>
              <a:t>Target status based on project KPI rule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3063240"/>
            <a:ext cx="6629400" cy="246888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83480" y="3310128"/>
            <a:ext cx="5943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006C35"/>
                </a:solidFill>
              </a:defRPr>
            </a:pPr>
            <a:r>
              <a:t>WHAT THE NUMBERS SAY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3675887"/>
            <a:ext cx="5760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4231E"/>
                </a:solidFill>
              </a:defRPr>
            </a:pPr>
            <a:r>
              <a:t>• Domestic Economy leads total profit.</a:t>
            </a:r>
          </a:p>
          <a:p>
            <a:pPr>
              <a:spcAft>
                <a:spcPts val="1200"/>
              </a:spcAft>
              <a:defRPr sz="1300">
                <a:solidFill>
                  <a:srgbClr val="14231E"/>
                </a:solidFill>
              </a:defRPr>
            </a:pPr>
            <a:r>
              <a:t>• High-margin services deserve protection and scalable capacity.</a:t>
            </a:r>
          </a:p>
          <a:p>
            <a:pPr>
              <a:spcAft>
                <a:spcPts val="1200"/>
              </a:spcAft>
              <a:defRPr sz="1300">
                <a:solidFill>
                  <a:srgbClr val="14231E"/>
                </a:solidFill>
              </a:defRPr>
            </a:pPr>
            <a:r>
              <a:t>• Low-margin services need cost and pricing review.</a:t>
            </a:r>
          </a:p>
          <a:p>
            <a:pPr>
              <a:spcAft>
                <a:spcPts val="1200"/>
              </a:spcAft>
              <a:defRPr sz="1300">
                <a:solidFill>
                  <a:srgbClr val="14231E"/>
                </a:solidFill>
              </a:defRPr>
            </a:pPr>
            <a:r>
              <a:t>• KPI tracking connects operational execution with financial outcomes.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47395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C5D57"/>
                </a:solidFill>
              </a:defRPr>
            </a:pPr>
            <a:r>
              <a:t>JUM Logistics  •  Supply Chain Analytical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6C35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1E"/>
                </a:solidFill>
              </a:defRPr>
            </a:pPr>
            <a:r>
              <a:t>Project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41832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C5D57"/>
                </a:solidFill>
              </a:defRPr>
            </a:pPr>
            <a:r>
              <a:t>What the analysis was designed to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3337560" cy="324612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30552" y="2276855"/>
            <a:ext cx="118872" cy="256032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31720" y="2093975"/>
            <a:ext cx="118872" cy="438912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32888" y="1911095"/>
            <a:ext cx="118872" cy="621792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28803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1">
                <a:solidFill>
                  <a:srgbClr val="006C35"/>
                </a:solidFill>
              </a:defRPr>
            </a:pPr>
            <a:r>
              <a:t>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26974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4231E"/>
                </a:solidFill>
              </a:defRPr>
            </a:pPr>
            <a:r>
              <a:t>How profitable are the shipment activities?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554480"/>
            <a:ext cx="3337560" cy="324612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9028" y="1888236"/>
            <a:ext cx="566928" cy="566928"/>
          </a:xfrm>
          <a:prstGeom prst="ellipse">
            <a:avLst/>
          </a:prstGeom>
          <a:solidFill>
            <a:srgbClr val="DDF7F1"/>
          </a:solidFill>
          <a:ln w="25400"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030468" y="1979676"/>
            <a:ext cx="384048" cy="384048"/>
          </a:xfrm>
          <a:prstGeom prst="ellipse">
            <a:avLst/>
          </a:prstGeom>
          <a:solidFill>
            <a:srgbClr val="DDF7F1"/>
          </a:solidFill>
          <a:ln w="25400"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21908" y="2071115"/>
            <a:ext cx="201168" cy="201168"/>
          </a:xfrm>
          <a:prstGeom prst="ellipse">
            <a:avLst/>
          </a:prstGeom>
          <a:solidFill>
            <a:srgbClr val="DDF7F1"/>
          </a:solidFill>
          <a:ln w="25400"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2697480"/>
            <a:ext cx="28803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1">
                <a:solidFill>
                  <a:srgbClr val="006C35"/>
                </a:solidFill>
              </a:defRPr>
            </a:pPr>
            <a:r>
              <a:t>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246120"/>
            <a:ext cx="26974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4231E"/>
                </a:solidFill>
              </a:defRPr>
            </a:pPr>
            <a:r>
              <a:t>Which services and periods perform best?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554480"/>
            <a:ext cx="3337560" cy="324612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11512" y="1920239"/>
            <a:ext cx="457200" cy="45720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01784" y="2359152"/>
            <a:ext cx="6858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650" b="1">
                <a:solidFill>
                  <a:srgbClr val="006C35"/>
                </a:solidFill>
              </a:defRPr>
            </a:pPr>
            <a:r>
              <a:t>SUPPLIER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697480"/>
            <a:ext cx="28803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1">
                <a:solidFill>
                  <a:srgbClr val="006C35"/>
                </a:solidFill>
              </a:defRPr>
            </a:pPr>
            <a:r>
              <a:t>IMPROVE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246120"/>
            <a:ext cx="26974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4231E"/>
                </a:solidFill>
              </a:defRPr>
            </a:pPr>
            <a:r>
              <a:t>Where can cost and operational performance improve?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0">
                <a:solidFill>
                  <a:srgbClr val="4C5D57"/>
                </a:solidFill>
              </a:defRPr>
            </a:pPr>
            <a:r>
              <a:t>The final output turns raw shipment records into measurable insights, a dashboard, and practical recommendations.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C5D57"/>
                </a:solidFill>
              </a:defRPr>
            </a:pPr>
            <a:r>
              <a:t>JUM Logistics  •  Supply Chain Analytical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6C35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1E"/>
                </a:solidFill>
              </a:defRPr>
            </a:pPr>
            <a:r>
              <a:t>From Data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41832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C5D57"/>
                </a:solidFill>
              </a:defRPr>
            </a:pPr>
            <a:r>
              <a:t>A repeatable analytical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920240" cy="224028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029968"/>
            <a:ext cx="1554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006C35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42032"/>
            <a:ext cx="1554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14231E"/>
                </a:solidFill>
              </a:defRPr>
            </a:pPr>
            <a: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15544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0">
                <a:solidFill>
                  <a:srgbClr val="4C5D57"/>
                </a:solidFill>
              </a:defRPr>
            </a:pPr>
            <a:r>
              <a:t>30,000 records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2926080"/>
            <a:ext cx="365760" cy="0"/>
          </a:xfrm>
          <a:prstGeom prst="line">
            <a:avLst/>
          </a:prstGeom>
          <a:ln w="25400">
            <a:solidFill>
              <a:srgbClr val="006C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34639" y="1828800"/>
            <a:ext cx="1920240" cy="224028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17520" y="2029968"/>
            <a:ext cx="1554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006C35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42032"/>
            <a:ext cx="1554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14231E"/>
                </a:solidFill>
              </a:defRPr>
            </a:pPr>
            <a:r>
              <a:t>CALCULATE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063240"/>
            <a:ext cx="15544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0">
                <a:solidFill>
                  <a:srgbClr val="4C5D57"/>
                </a:solidFill>
              </a:defRPr>
            </a:pPr>
            <a:r>
              <a:t>Cost • Profit • Margin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54879" y="2926080"/>
            <a:ext cx="365761" cy="0"/>
          </a:xfrm>
          <a:prstGeom prst="line">
            <a:avLst/>
          </a:prstGeom>
          <a:ln w="25400">
            <a:solidFill>
              <a:srgbClr val="006C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66359" y="1828800"/>
            <a:ext cx="1920240" cy="224028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9240" y="2029968"/>
            <a:ext cx="1554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006C35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542032"/>
            <a:ext cx="1554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14231E"/>
                </a:solidFill>
              </a:defRPr>
            </a:pPr>
            <a: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063240"/>
            <a:ext cx="15544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0">
                <a:solidFill>
                  <a:srgbClr val="4C5D57"/>
                </a:solidFill>
              </a:defRPr>
            </a:pPr>
            <a:r>
              <a:t>Service • City • Month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6600" y="2926080"/>
            <a:ext cx="365759" cy="0"/>
          </a:xfrm>
          <a:prstGeom prst="line">
            <a:avLst/>
          </a:prstGeom>
          <a:ln w="25400">
            <a:solidFill>
              <a:srgbClr val="006C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79" y="1828800"/>
            <a:ext cx="1920240" cy="224028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59" y="2029968"/>
            <a:ext cx="1554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006C35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59" y="2542032"/>
            <a:ext cx="1554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14231E"/>
                </a:solidFill>
              </a:defRPr>
            </a:pPr>
            <a:r>
              <a:t>VISUALIZE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59" y="3063240"/>
            <a:ext cx="15544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0">
                <a:solidFill>
                  <a:srgbClr val="4C5D57"/>
                </a:solidFill>
              </a:defRPr>
            </a:pPr>
            <a:r>
              <a:t>KPIs + Dashboard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18319" y="2926080"/>
            <a:ext cx="365761" cy="0"/>
          </a:xfrm>
          <a:prstGeom prst="line">
            <a:avLst/>
          </a:prstGeom>
          <a:ln w="25400">
            <a:solidFill>
              <a:srgbClr val="006C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29800" y="1828800"/>
            <a:ext cx="1920240" cy="224028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12680" y="2029968"/>
            <a:ext cx="1554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006C35"/>
                </a:solidFill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542032"/>
            <a:ext cx="1554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14231E"/>
                </a:solidFill>
              </a:defRPr>
            </a:pPr>
            <a:r>
              <a:t>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3063240"/>
            <a:ext cx="15544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0">
                <a:solidFill>
                  <a:srgbClr val="4C5D57"/>
                </a:solidFill>
              </a:defRPr>
            </a:pPr>
            <a:r>
              <a:t>Recommendations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800600"/>
            <a:ext cx="10058400" cy="914400"/>
          </a:xfrm>
          <a:prstGeom prst="roundRect">
            <a:avLst/>
          </a:prstGeom>
          <a:solidFill>
            <a:srgbClr val="F8FBFA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34440" y="5010912"/>
            <a:ext cx="9601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50" b="1">
                <a:solidFill>
                  <a:srgbClr val="14231E"/>
                </a:solidFill>
              </a:defRPr>
            </a:pPr>
            <a:r>
              <a:t>Core formulas:  Total Cost = Direct Cost + Other Cost   |   Profit = Revenue − Total Cost   |   Margin = Profit ÷ Revenue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7395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C5D57"/>
                </a:solidFill>
              </a:defRPr>
            </a:pPr>
            <a:r>
              <a:t>JUM Logistics  •  Supply Chain Analytical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6C35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1E"/>
                </a:solidFill>
              </a:defRPr>
            </a:pPr>
            <a:r>
              <a:t>Financial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41832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C5D57"/>
                </a:solidFill>
              </a:defRPr>
            </a:pPr>
            <a:r>
              <a:t>How revenue translates into cost, profit, and margin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2423160" cy="137160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8992" y="1581912"/>
            <a:ext cx="411480" cy="41148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600200"/>
            <a:ext cx="4114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006C35"/>
                </a:solidFill>
              </a:defRPr>
            </a:pPr>
            <a: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3" y="1581912"/>
            <a:ext cx="1563624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4C5D57"/>
                </a:solidFill>
              </a:defRPr>
            </a:pPr>
            <a: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920240"/>
            <a:ext cx="2093976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06C35"/>
                </a:solidFill>
              </a:defRPr>
            </a:pPr>
            <a:r>
              <a:t>3,495,023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417320"/>
            <a:ext cx="2423160" cy="137160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959352" y="1581912"/>
            <a:ext cx="411480" cy="41148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59352" y="1600200"/>
            <a:ext cx="4114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006C35"/>
                </a:solidFill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1581912"/>
            <a:ext cx="1563624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4C5D57"/>
                </a:solidFill>
              </a:defRPr>
            </a:pPr>
            <a:r>
              <a:t>TOTAL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352" y="1920240"/>
            <a:ext cx="2093976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06C35"/>
                </a:solidFill>
              </a:defRPr>
            </a:pPr>
            <a:r>
              <a:t>2,559,934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417320"/>
            <a:ext cx="2423160" cy="137160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39712" y="1581912"/>
            <a:ext cx="411480" cy="41148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39712" y="1600200"/>
            <a:ext cx="4114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006C35"/>
                </a:solidFill>
              </a:defRPr>
            </a:pPr>
            <a: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3" y="1581912"/>
            <a:ext cx="1563624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4C5D57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1920240"/>
            <a:ext cx="2093976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06C35"/>
                </a:solidFill>
              </a:defRPr>
            </a:pPr>
            <a:r>
              <a:t>935,089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417320"/>
            <a:ext cx="2423160" cy="137160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720072" y="1581912"/>
            <a:ext cx="411480" cy="41148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20072" y="1600200"/>
            <a:ext cx="4114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006C35"/>
                </a:solidFill>
              </a:defRPr>
            </a:pPr>
            <a: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50424" y="1581912"/>
            <a:ext cx="1563624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4C5D57"/>
                </a:solidFill>
              </a:defRPr>
            </a:pPr>
            <a:r>
              <a:t>PROFIT MARGIN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1920240"/>
            <a:ext cx="2093976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06C35"/>
                </a:solidFill>
              </a:defRPr>
            </a:pPr>
            <a:r>
              <a:t>26.8%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246120"/>
            <a:ext cx="10332720" cy="2103120"/>
          </a:xfrm>
          <a:prstGeom prst="roundRect">
            <a:avLst/>
          </a:prstGeom>
          <a:solidFill>
            <a:srgbClr val="F8FBFA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3456432"/>
            <a:ext cx="2011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006C35"/>
                </a:solidFill>
              </a:defRPr>
            </a:pPr>
            <a:r>
              <a:t>VALUE BRIDGE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520439"/>
            <a:ext cx="1005840" cy="123444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4892040"/>
            <a:ext cx="1371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14231E"/>
                </a:solidFill>
              </a:defRPr>
            </a:pPr>
            <a:r>
              <a:t>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337559"/>
            <a:ext cx="1463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14231E"/>
                </a:solidFill>
              </a:defRPr>
            </a:pPr>
            <a:r>
              <a:t>3,495,023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3850712"/>
            <a:ext cx="1005840" cy="904167"/>
          </a:xfrm>
          <a:prstGeom prst="rect">
            <a:avLst/>
          </a:prstGeom>
          <a:solidFill>
            <a:srgbClr val="5C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51959" y="4892040"/>
            <a:ext cx="1371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14231E"/>
                </a:solidFill>
              </a:defRPr>
            </a:pPr>
            <a:r>
              <a:t>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3667832"/>
            <a:ext cx="1463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14231E"/>
                </a:solidFill>
              </a:defRPr>
            </a:pPr>
            <a:r>
              <a:t>2,559,934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4424607"/>
            <a:ext cx="1005840" cy="330272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199" y="4892040"/>
            <a:ext cx="1371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14231E"/>
                </a:solidFill>
              </a:defRPr>
            </a:pPr>
            <a:r>
              <a:t>Profit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79" y="4241727"/>
            <a:ext cx="1463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14231E"/>
                </a:solidFill>
              </a:defRPr>
            </a:pPr>
            <a:r>
              <a:t>935,089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47395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C5D57"/>
                </a:solidFill>
              </a:defRPr>
            </a:pPr>
            <a:r>
              <a:t>JUM Logistics  •  Supply Chain Analytical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6C35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1E"/>
                </a:solidFill>
              </a:defRPr>
            </a:pPr>
            <a:r>
              <a:t>Service Profitability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41832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C5D57"/>
                </a:solidFill>
              </a:defRPr>
            </a:pPr>
            <a:r>
              <a:t>Where the portfolio creates the most value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417320"/>
          <a:ext cx="69037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1554480"/>
            <a:ext cx="3474720" cy="411480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1828800"/>
            <a:ext cx="29260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6C35"/>
                </a:solidFill>
              </a:defRPr>
            </a:pPr>
            <a: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286000"/>
            <a:ext cx="2788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14231E"/>
                </a:solidFill>
              </a:defRPr>
            </a:pPr>
            <a:r>
              <a:t>• Highest total profit: Domestic Economy.</a:t>
            </a:r>
          </a:p>
          <a:p>
            <a:pPr>
              <a:spcAft>
                <a:spcPts val="1200"/>
              </a:spcAft>
              <a:defRPr sz="1250">
                <a:solidFill>
                  <a:srgbClr val="14231E"/>
                </a:solidFill>
              </a:defRPr>
            </a:pPr>
            <a:r>
              <a:t>• Highest average margin: Domestic Economy (39.2%).</a:t>
            </a:r>
          </a:p>
          <a:p>
            <a:pPr>
              <a:spcAft>
                <a:spcPts val="1200"/>
              </a:spcAft>
              <a:defRPr sz="1250">
                <a:solidFill>
                  <a:srgbClr val="14231E"/>
                </a:solidFill>
              </a:defRPr>
            </a:pPr>
            <a:r>
              <a:t>• Lowest average margin: Cargo Air (12.9%).</a:t>
            </a:r>
          </a:p>
          <a:p>
            <a:pPr>
              <a:spcAft>
                <a:spcPts val="1200"/>
              </a:spcAft>
              <a:defRPr sz="1250">
                <a:solidFill>
                  <a:srgbClr val="14231E"/>
                </a:solidFill>
              </a:defRPr>
            </a:pPr>
            <a:r>
              <a:t>• Use service-level results to focus pricing and cost 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C5D57"/>
                </a:solidFill>
              </a:defRPr>
            </a:pPr>
            <a:r>
              <a:t>JUM Logistics  •  Supply Chain Analytical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6C35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1E"/>
                </a:solidFill>
              </a:defRPr>
            </a:pPr>
            <a:r>
              <a:t>KPI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41832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C5D57"/>
                </a:solidFill>
              </a:defRPr>
            </a:pPr>
            <a:r>
              <a:t>Simple thresholds turn operational performance into a decision signal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2926080" cy="137160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8992" y="1627632"/>
            <a:ext cx="411480" cy="41148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645920"/>
            <a:ext cx="4114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006C35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3" y="1627632"/>
            <a:ext cx="2066544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4C5D57"/>
                </a:solidFill>
              </a:defRPr>
            </a:pPr>
            <a:r>
              <a:t>ON-TIME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965960"/>
            <a:ext cx="2596896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06C35"/>
                </a:solidFill>
              </a:defRPr>
            </a:pPr>
            <a:r>
              <a:t>86.6%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508760"/>
            <a:ext cx="1828800" cy="1280160"/>
          </a:xfrm>
          <a:prstGeom prst="roundRect">
            <a:avLst/>
          </a:prstGeom>
          <a:solidFill>
            <a:srgbClr val="F8FBFA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737360"/>
            <a:ext cx="16459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006C35"/>
                </a:solidFill>
              </a:defRPr>
            </a:pPr>
            <a:r>
              <a:t>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21408"/>
            <a:ext cx="1645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14231E"/>
                </a:solidFill>
              </a:defRPr>
            </a:pPr>
            <a:r>
              <a:t>≥ 85%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508760"/>
            <a:ext cx="1828800" cy="1280160"/>
          </a:xfrm>
          <a:prstGeom prst="roundRect">
            <a:avLst/>
          </a:prstGeom>
          <a:solidFill>
            <a:srgbClr val="F8FBFA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1737360"/>
            <a:ext cx="16459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C7A446"/>
                </a:solidFill>
              </a:defRPr>
            </a:pPr>
            <a:r>
              <a:t>YELLOW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21408"/>
            <a:ext cx="1645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14231E"/>
                </a:solidFill>
              </a:defRPr>
            </a:pPr>
            <a:r>
              <a:t>60–84%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1508760"/>
            <a:ext cx="1828800" cy="1280160"/>
          </a:xfrm>
          <a:prstGeom prst="roundRect">
            <a:avLst/>
          </a:prstGeom>
          <a:solidFill>
            <a:srgbClr val="F8FBFA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49840" y="1737360"/>
            <a:ext cx="16459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B94141"/>
                </a:solidFill>
              </a:defRPr>
            </a:pPr>
            <a: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121408"/>
            <a:ext cx="1645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14231E"/>
                </a:solidFill>
              </a:defRPr>
            </a:pPr>
            <a:r>
              <a:t>&lt; 60%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337560"/>
            <a:ext cx="10287000" cy="214884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8720" y="3611880"/>
            <a:ext cx="9692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006C35"/>
                </a:solidFill>
              </a:defRPr>
            </a:pPr>
            <a: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77639"/>
            <a:ext cx="9601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4231E"/>
                </a:solidFill>
              </a:defRPr>
            </a:pPr>
            <a:r>
              <a:t>• KPI monitoring gives an early warning for service exceptions.</a:t>
            </a:r>
          </a:p>
          <a:p>
            <a:pPr>
              <a:spcAft>
                <a:spcPts val="1200"/>
              </a:spcAft>
              <a:defRPr sz="1400">
                <a:solidFill>
                  <a:srgbClr val="14231E"/>
                </a:solidFill>
              </a:defRPr>
            </a:pPr>
            <a:r>
              <a:t>• Monthly review helps identify recurring operational gaps.</a:t>
            </a:r>
          </a:p>
          <a:p>
            <a:pPr>
              <a:spcAft>
                <a:spcPts val="1200"/>
              </a:spcAft>
              <a:defRPr sz="1400">
                <a:solidFill>
                  <a:srgbClr val="14231E"/>
                </a:solidFill>
              </a:defRPr>
            </a:pPr>
            <a:r>
              <a:t>• Performance thresholds create a consistent basis for corrective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C5D57"/>
                </a:solidFill>
              </a:defRPr>
            </a:pPr>
            <a:r>
              <a:t>JUM Logistics  •  Supply Chain Analytical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6C35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1E"/>
                </a:solidFill>
              </a:defRPr>
            </a:pPr>
            <a:r>
              <a:t>Procurement Perspective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41832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C5D57"/>
                </a:solidFill>
              </a:defRPr>
            </a:pPr>
            <a:r>
              <a:t>How the project connects analytics with purchasing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1874519" cy="822960"/>
          </a:xfrm>
          <a:prstGeom prst="roundRect">
            <a:avLst/>
          </a:prstGeom>
          <a:solidFill>
            <a:srgbClr val="006C35"/>
          </a:solidFill>
          <a:ln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73352"/>
            <a:ext cx="1600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63040"/>
            <a:ext cx="786384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14231E"/>
                </a:solidFill>
              </a:defRPr>
            </a:pPr>
            <a:r>
              <a:t>Research suppliers and build a qualified supplier pool.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560320"/>
            <a:ext cx="1874519" cy="822960"/>
          </a:xfrm>
          <a:prstGeom prst="roundRect">
            <a:avLst/>
          </a:prstGeom>
          <a:solidFill>
            <a:srgbClr val="006C35"/>
          </a:solidFill>
          <a:ln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816352"/>
            <a:ext cx="1600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EVALUATE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06039"/>
            <a:ext cx="786384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14231E"/>
                </a:solidFill>
              </a:defRPr>
            </a:pPr>
            <a:r>
              <a:t>Compare cost, quality, reliability, capacity, and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03320"/>
            <a:ext cx="1874519" cy="822960"/>
          </a:xfrm>
          <a:prstGeom prst="roundRect">
            <a:avLst/>
          </a:prstGeom>
          <a:solidFill>
            <a:srgbClr val="006C35"/>
          </a:solidFill>
          <a:ln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959352"/>
            <a:ext cx="1600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NEGOTIATE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749039"/>
            <a:ext cx="786384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14231E"/>
                </a:solidFill>
              </a:defRPr>
            </a:pPr>
            <a:r>
              <a:t>Improve price, payment terms, lead time, and total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46320"/>
            <a:ext cx="1874519" cy="822960"/>
          </a:xfrm>
          <a:prstGeom prst="roundRect">
            <a:avLst/>
          </a:prstGeom>
          <a:solidFill>
            <a:srgbClr val="006C35"/>
          </a:solidFill>
          <a:ln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102352"/>
            <a:ext cx="1600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892040"/>
            <a:ext cx="786384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14231E"/>
                </a:solidFill>
              </a:defRPr>
            </a:pPr>
            <a:r>
              <a:t>Track supplier KPIs: cost, quality, delivery, and service.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C5D57"/>
                </a:solidFill>
              </a:defRPr>
            </a:pPr>
            <a:r>
              <a:t>JUM Logistics  •  Supply Chain Analytical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6C35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1E"/>
                </a:solidFill>
              </a:defRPr>
            </a:pPr>
            <a:r>
              <a:t>Dashboard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41832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C5D57"/>
                </a:solidFill>
              </a:defRPr>
            </a:pPr>
            <a:r>
              <a:t>Designed to answer management questions quickly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89920" cy="4480560"/>
          </a:xfrm>
          <a:prstGeom prst="roundRect">
            <a:avLst/>
          </a:prstGeom>
          <a:solidFill>
            <a:srgbClr val="F8FBFA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691640"/>
            <a:ext cx="1965960" cy="96012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1856232"/>
            <a:ext cx="1636776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4C5D57"/>
                </a:solidFill>
              </a:defRPr>
            </a:pPr>
            <a:r>
              <a:t>SHIPMENTS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194560"/>
            <a:ext cx="1636776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06C35"/>
                </a:solidFill>
              </a:defRPr>
            </a:pPr>
            <a:r>
              <a:t>30,000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1965960" cy="96012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02152" y="1856232"/>
            <a:ext cx="1636776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4C5D57"/>
                </a:solidFill>
              </a:defRPr>
            </a:pPr>
            <a: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194560"/>
            <a:ext cx="1636776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06C35"/>
                </a:solidFill>
              </a:defRPr>
            </a:pPr>
            <a:r>
              <a:t>3,495,023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691640"/>
            <a:ext cx="1965960" cy="96012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33872" y="1856232"/>
            <a:ext cx="1636776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4C5D57"/>
                </a:solidFill>
              </a:defRPr>
            </a:pPr>
            <a:r>
              <a:t>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2194560"/>
            <a:ext cx="1636776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06C35"/>
                </a:solidFill>
              </a:defRPr>
            </a:pPr>
            <a:r>
              <a:t>935,089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691640"/>
            <a:ext cx="1965960" cy="96012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65592" y="1856232"/>
            <a:ext cx="1636776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4C5D57"/>
                </a:solidFill>
              </a:defRPr>
            </a:pPr>
            <a:r>
              <a:t>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2194560"/>
            <a:ext cx="1636776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06C35"/>
                </a:solidFill>
              </a:defRPr>
            </a:pPr>
            <a:r>
              <a:t>26.8%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143000" y="4709160"/>
            <a:ext cx="731519" cy="365760"/>
          </a:xfrm>
          <a:prstGeom prst="line">
            <a:avLst/>
          </a:prstGeom>
          <a:ln w="31750">
            <a:solidFill>
              <a:srgbClr val="006C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74519" y="4709160"/>
            <a:ext cx="731521" cy="182880"/>
          </a:xfrm>
          <a:prstGeom prst="line">
            <a:avLst/>
          </a:prstGeom>
          <a:ln w="31750">
            <a:solidFill>
              <a:srgbClr val="006C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606040" y="4297680"/>
            <a:ext cx="731520" cy="594360"/>
          </a:xfrm>
          <a:prstGeom prst="line">
            <a:avLst/>
          </a:prstGeom>
          <a:ln w="31750">
            <a:solidFill>
              <a:srgbClr val="006C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37560" y="4297680"/>
            <a:ext cx="731520" cy="182880"/>
          </a:xfrm>
          <a:prstGeom prst="line">
            <a:avLst/>
          </a:prstGeom>
          <a:ln w="31750">
            <a:solidFill>
              <a:srgbClr val="006C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069080" y="3977639"/>
            <a:ext cx="731520" cy="502921"/>
          </a:xfrm>
          <a:prstGeom prst="line">
            <a:avLst/>
          </a:prstGeom>
          <a:ln w="31750">
            <a:solidFill>
              <a:srgbClr val="006C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00600" y="3977639"/>
            <a:ext cx="731520" cy="182881"/>
          </a:xfrm>
          <a:prstGeom prst="line">
            <a:avLst/>
          </a:prstGeom>
          <a:ln w="31750">
            <a:solidFill>
              <a:srgbClr val="006C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97280" y="5029200"/>
            <a:ext cx="91440" cy="9144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828799" y="4663440"/>
            <a:ext cx="91440" cy="9144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560320" y="4846320"/>
            <a:ext cx="91440" cy="9144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291840" y="4251960"/>
            <a:ext cx="91440" cy="9144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023360" y="4434840"/>
            <a:ext cx="91440" cy="9144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754880" y="3931920"/>
            <a:ext cx="91440" cy="9144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486400" y="4114800"/>
            <a:ext cx="91440" cy="91440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0" y="4709160"/>
            <a:ext cx="274320" cy="45720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72400" y="4343400"/>
            <a:ext cx="274320" cy="82296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0" y="4572000"/>
            <a:ext cx="274320" cy="59436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686800" y="4114800"/>
            <a:ext cx="274320" cy="105156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0" y="4434840"/>
            <a:ext cx="274320" cy="73152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7280" y="5486400"/>
            <a:ext cx="5486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1">
                <a:solidFill>
                  <a:srgbClr val="4C5D57"/>
                </a:solidFill>
              </a:defRPr>
            </a:pPr>
            <a:r>
              <a:t>Trend 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486400"/>
            <a:ext cx="2743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1">
                <a:solidFill>
                  <a:srgbClr val="4C5D57"/>
                </a:solidFill>
              </a:defRPr>
            </a:pPr>
            <a:r>
              <a:t>Service comparison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47395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C5D57"/>
                </a:solidFill>
              </a:defRPr>
            </a:pPr>
            <a:r>
              <a:t>JUM Logistics  •  Supply Chain Analytical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6C35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1E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41832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C5D57"/>
                </a:solidFill>
              </a:defRPr>
            </a:pPr>
            <a:r>
              <a:t>Turning analysis into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658368" cy="594360"/>
          </a:xfrm>
          <a:prstGeom prst="roundRect">
            <a:avLst/>
          </a:prstGeom>
          <a:solidFill>
            <a:srgbClr val="006C35"/>
          </a:solidFill>
          <a:ln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5836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344168"/>
            <a:ext cx="3200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50" b="1">
                <a:solidFill>
                  <a:srgbClr val="14231E"/>
                </a:solidFill>
              </a:defRPr>
            </a:pPr>
            <a:r>
              <a:t>Protect high-profit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344168"/>
            <a:ext cx="62179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50" b="0">
                <a:solidFill>
                  <a:srgbClr val="4C5D57"/>
                </a:solidFill>
              </a:defRPr>
            </a:pPr>
            <a:r>
              <a:t>Maintain quality and scalable capacity.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86000"/>
            <a:ext cx="658368" cy="594360"/>
          </a:xfrm>
          <a:prstGeom prst="roundRect">
            <a:avLst/>
          </a:prstGeom>
          <a:solidFill>
            <a:srgbClr val="006C35"/>
          </a:solidFill>
          <a:ln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450592"/>
            <a:ext cx="65836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304288"/>
            <a:ext cx="3200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50" b="1">
                <a:solidFill>
                  <a:srgbClr val="14231E"/>
                </a:solidFill>
              </a:defRPr>
            </a:pPr>
            <a:r>
              <a:t>Review low-margin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304288"/>
            <a:ext cx="62179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50" b="0">
                <a:solidFill>
                  <a:srgbClr val="4C5D57"/>
                </a:solidFill>
              </a:defRPr>
            </a:pPr>
            <a:r>
              <a:t>Investigate pricing and cost drivers.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46120"/>
            <a:ext cx="658368" cy="594360"/>
          </a:xfrm>
          <a:prstGeom prst="roundRect">
            <a:avLst/>
          </a:prstGeom>
          <a:solidFill>
            <a:srgbClr val="006C35"/>
          </a:solidFill>
          <a:ln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410712"/>
            <a:ext cx="65836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264408"/>
            <a:ext cx="3200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50" b="1">
                <a:solidFill>
                  <a:srgbClr val="14231E"/>
                </a:solidFill>
              </a:defRPr>
            </a:pPr>
            <a:r>
              <a:t>Strengthen supplier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264408"/>
            <a:ext cx="62179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50" b="0">
                <a:solidFill>
                  <a:srgbClr val="4C5D57"/>
                </a:solidFill>
              </a:defRPr>
            </a:pPr>
            <a:r>
              <a:t>Use measurable cost, quality, and delivery criteria.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06240"/>
            <a:ext cx="658368" cy="594360"/>
          </a:xfrm>
          <a:prstGeom prst="roundRect">
            <a:avLst/>
          </a:prstGeom>
          <a:solidFill>
            <a:srgbClr val="006C35"/>
          </a:solidFill>
          <a:ln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370832"/>
            <a:ext cx="65836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24528"/>
            <a:ext cx="3200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50" b="1">
                <a:solidFill>
                  <a:srgbClr val="14231E"/>
                </a:solidFill>
              </a:defRPr>
            </a:pPr>
            <a:r>
              <a:t>Standardize quotation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224528"/>
            <a:ext cx="62179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50" b="0">
                <a:solidFill>
                  <a:srgbClr val="4C5D57"/>
                </a:solidFill>
              </a:defRPr>
            </a:pPr>
            <a:r>
              <a:t>Improve consistency and purchasing decisions.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166360"/>
            <a:ext cx="658368" cy="594360"/>
          </a:xfrm>
          <a:prstGeom prst="roundRect">
            <a:avLst/>
          </a:prstGeom>
          <a:solidFill>
            <a:srgbClr val="006C35"/>
          </a:solidFill>
          <a:ln>
            <a:solidFill>
              <a:srgbClr val="00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330952"/>
            <a:ext cx="65836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184648"/>
            <a:ext cx="3200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50" b="1">
                <a:solidFill>
                  <a:srgbClr val="14231E"/>
                </a:solidFill>
              </a:defRPr>
            </a:pPr>
            <a:r>
              <a:t>Review KPIs monthly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5184648"/>
            <a:ext cx="62179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50" b="0">
                <a:solidFill>
                  <a:srgbClr val="4C5D57"/>
                </a:solidFill>
              </a:defRPr>
            </a:pPr>
            <a:r>
              <a:t>Act early on recurring performance exceptions.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7395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C5D57"/>
                </a:solidFill>
              </a:defRPr>
            </a:pPr>
            <a:r>
              <a:t>JUM Logistics  •  Supply Chain Analytical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6C35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1E"/>
                </a:solidFill>
              </a:defRPr>
            </a:pPr>
            <a:r>
              <a:t>Challenges, Solutions &amp;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41832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C5D57"/>
                </a:solidFill>
              </a:defRPr>
            </a:pPr>
            <a:r>
              <a:t>What I learned by building the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48056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6C35"/>
                </a:solidFill>
              </a:defRPr>
            </a:pPr>
            <a:r>
              <a:t>CHALLENGES →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4231E"/>
                </a:solidFill>
              </a:defRPr>
            </a:pPr>
            <a:r>
              <a:t>• 30,000 records → structured tables and organized analysis.</a:t>
            </a:r>
          </a:p>
          <a:p>
            <a:pPr>
              <a:spcAft>
                <a:spcPts val="1200"/>
              </a:spcAft>
              <a:defRPr sz="1300">
                <a:solidFill>
                  <a:srgbClr val="14231E"/>
                </a:solidFill>
              </a:defRPr>
            </a:pPr>
            <a:r>
              <a:t>• Multiple KPIs → clear metrics and thresholds.</a:t>
            </a:r>
          </a:p>
          <a:p>
            <a:pPr>
              <a:spcAft>
                <a:spcPts val="1200"/>
              </a:spcAft>
              <a:defRPr sz="1300">
                <a:solidFill>
                  <a:srgbClr val="14231E"/>
                </a:solidFill>
              </a:defRPr>
            </a:pPr>
            <a:r>
              <a:t>• Raw numbers → dashboard and visual summaries.</a:t>
            </a:r>
          </a:p>
          <a:p>
            <a:pPr>
              <a:spcAft>
                <a:spcPts val="1200"/>
              </a:spcAft>
              <a:defRPr sz="1300">
                <a:solidFill>
                  <a:srgbClr val="14231E"/>
                </a:solidFill>
              </a:defRPr>
            </a:pPr>
            <a:r>
              <a:t>• Analysis → practical procurement and cost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20640" cy="4480560"/>
          </a:xfrm>
          <a:prstGeom prst="roundRect">
            <a:avLst/>
          </a:prstGeom>
          <a:solidFill>
            <a:srgbClr val="F8FBFA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572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006C35"/>
                </a:solidFill>
              </a:defRPr>
            </a:pPr>
            <a:r>
              <a:t>SKILLS DEVELOPED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4231E"/>
                </a:solidFill>
              </a:defRPr>
            </a:pPr>
            <a:r>
              <a:t>• Excel data analysis &amp; dashboard development</a:t>
            </a:r>
          </a:p>
          <a:p>
            <a:pPr>
              <a:spcAft>
                <a:spcPts val="1200"/>
              </a:spcAft>
              <a:defRPr sz="1300">
                <a:solidFill>
                  <a:srgbClr val="14231E"/>
                </a:solidFill>
              </a:defRPr>
            </a:pPr>
            <a:r>
              <a:t>• Cost and profitability analysis</a:t>
            </a:r>
          </a:p>
          <a:p>
            <a:pPr>
              <a:spcAft>
                <a:spcPts val="1200"/>
              </a:spcAft>
              <a:defRPr sz="1300">
                <a:solidFill>
                  <a:srgbClr val="14231E"/>
                </a:solidFill>
              </a:defRPr>
            </a:pPr>
            <a:r>
              <a:t>• KPI monitoring &amp; data visualization</a:t>
            </a:r>
          </a:p>
          <a:p>
            <a:pPr>
              <a:spcAft>
                <a:spcPts val="1200"/>
              </a:spcAft>
              <a:defRPr sz="1300">
                <a:solidFill>
                  <a:srgbClr val="14231E"/>
                </a:solidFill>
              </a:defRPr>
            </a:pPr>
            <a:r>
              <a:t>• Supply chain and procurement thinking</a:t>
            </a:r>
          </a:p>
          <a:p>
            <a:pPr>
              <a:spcAft>
                <a:spcPts val="1200"/>
              </a:spcAft>
              <a:defRPr sz="1300">
                <a:solidFill>
                  <a:srgbClr val="14231E"/>
                </a:solidFill>
              </a:defRPr>
            </a:pPr>
            <a:r>
              <a:t>• Problem solving &amp; data-driven decision making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C5D57"/>
                </a:solidFill>
              </a:defRPr>
            </a:pPr>
            <a:r>
              <a:t>JUM Logistics  •  Supply Chain Analytical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2F0E6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41832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2F0E6"/>
                </a:solidFill>
              </a:defRPr>
            </a:pPr>
            <a:r>
              <a:t>A portfolio project built around measurable supply chain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The project transforms shipment data into financial and operational insight.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Service profitability and KPI analysis reveal where performance can improve.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The dashboard creates a repeatable framework for monitoring results.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The approach supports cost control, procurement, and logistics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5166360"/>
            <a:ext cx="4754880" cy="777240"/>
          </a:xfrm>
          <a:prstGeom prst="roundRect">
            <a:avLst/>
          </a:prstGeom>
          <a:solidFill>
            <a:srgbClr val="08522A"/>
          </a:solidFill>
          <a:ln>
            <a:solidFill>
              <a:srgbClr val="50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5404104"/>
            <a:ext cx="44805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EXCEL  •  DASHBOARD  •  DATA-DRIVEN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285232"/>
            <a:ext cx="42976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JUM</a:t>
            </a:r>
            <a:br/>
            <a:r>
              <a:t>Supply Chain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EE1D5"/>
                </a:solidFill>
              </a:defRPr>
            </a:pPr>
            <a:r>
              <a:t>JUM Logistics  •  Supply Chain Analytical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1E"/>
                </a:solidFill>
              </a:defRPr>
            </a:pPr>
            <a:r>
              <a:t>References &amp; Project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0561320" cy="960120"/>
          </a:xfrm>
          <a:prstGeom prst="roundRect">
            <a:avLst/>
          </a:prstGeom>
          <a:solidFill>
            <a:srgbClr val="DDF7F1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6C35"/>
                </a:solidFill>
              </a:defRPr>
            </a:pPr>
            <a:r>
              <a:t>APPLIES TO ALL FILES</a:t>
            </a:r>
          </a:p>
          <a:p>
            <a:pPr>
              <a:defRPr sz="1400" b="1">
                <a:solidFill>
                  <a:srgbClr val="14231E"/>
                </a:solidFill>
              </a:defRPr>
            </a:pPr>
            <a:r>
              <a:t>Excel Analytical Workbook  •  Excel Dashboard  •  PowerPoint Presentation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834639"/>
            <a:ext cx="438912" cy="438912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926079"/>
            <a:ext cx="43891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7889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C35"/>
                </a:solidFill>
              </a:defRPr>
            </a:pPr>
            <a:r>
              <a:t>Microsoft Excel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770632"/>
            <a:ext cx="6629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4231E"/>
                </a:solidFill>
              </a:defRPr>
            </a:pPr>
            <a:r>
              <a:t>Formulas, functions, tables, data analysis and charting used as the technical basis for the Excel workbook.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200400"/>
            <a:ext cx="6629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C5D57"/>
                </a:solidFill>
              </a:defRPr>
            </a:pPr>
            <a:r>
              <a:t>https://support.microsoft.com/en-us/excel/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84447"/>
            <a:ext cx="438912" cy="438912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675887"/>
            <a:ext cx="43891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538727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C35"/>
                </a:solidFill>
              </a:defRPr>
            </a:pPr>
            <a:r>
              <a:t>Microsoft PowerPoint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520439"/>
            <a:ext cx="6629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4231E"/>
                </a:solidFill>
              </a:defRPr>
            </a:pPr>
            <a:r>
              <a:t>Presentation design, charts, visuals and presentation features used for the final presentation.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950207"/>
            <a:ext cx="6629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C5D57"/>
                </a:solidFill>
              </a:defRPr>
            </a:pPr>
            <a:r>
              <a:t>https://support.microsoft.com/en-us/powerpoint/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334255"/>
            <a:ext cx="438912" cy="438912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425696"/>
            <a:ext cx="43891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88536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C35"/>
                </a:solidFill>
              </a:defRPr>
            </a:pPr>
            <a:r>
              <a:t>Project 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270248"/>
            <a:ext cx="6629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4231E"/>
                </a:solidFill>
              </a:defRPr>
            </a:pPr>
            <a:r>
              <a:t>30,000 synthetic shipment records created specifically for this portfolio project. No confidential company data was used.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700016"/>
            <a:ext cx="6629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C5D57"/>
                </a:solidFill>
              </a:defRPr>
            </a:pPr>
            <a:r>
              <a:t>Internal project dataset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5084064"/>
            <a:ext cx="438912" cy="438912"/>
          </a:xfrm>
          <a:prstGeom prst="ellipse">
            <a:avLst/>
          </a:prstGeom>
          <a:solidFill>
            <a:srgbClr val="00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175504"/>
            <a:ext cx="43891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38344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C35"/>
                </a:solidFill>
              </a:defRPr>
            </a:pPr>
            <a:r>
              <a:t>Project Methodology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020056"/>
            <a:ext cx="6629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4231E"/>
                </a:solidFill>
              </a:defRPr>
            </a:pPr>
            <a:r>
              <a:t>Calculations, KPI thresholds, service analysis and recommendations developed specifically for this project.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449824"/>
            <a:ext cx="6629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C5D57"/>
                </a:solidFill>
              </a:defRPr>
            </a:pPr>
            <a:r>
              <a:t>Internal project methodology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925312"/>
            <a:ext cx="10287000" cy="502920"/>
          </a:xfrm>
          <a:prstGeom prst="roundRect">
            <a:avLst/>
          </a:prstGeom>
          <a:solidFill>
            <a:srgbClr val="F8FBFA"/>
          </a:solidFill>
          <a:ln>
            <a:solidFill>
              <a:srgbClr val="D3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36846" y="6053328"/>
            <a:ext cx="59506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C5D57"/>
                </a:solidFill>
              </a:defRPr>
            </a:pPr>
            <a:r>
              <a:rPr dirty="0"/>
              <a:t>Note: The dataset, KPI thresholds, calculations and recommendations are portfolio-project materials, not confidential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7395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C5D57"/>
                </a:solidFill>
              </a:defRPr>
            </a:pPr>
            <a:r>
              <a:t>JUM Logistics  •  Supply Chain Analytical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910</Words>
  <Application>Microsoft Office PowerPoint</Application>
  <PresentationFormat>Widescreen</PresentationFormat>
  <Paragraphs>211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جمانه ال جفشر</dc:creator>
  <cp:keywords/>
  <dc:description>generated using python-pptx</dc:description>
  <cp:lastModifiedBy>جمانه عبدالله محمد القحطاني</cp:lastModifiedBy>
  <cp:revision>2</cp:revision>
  <dcterms:created xsi:type="dcterms:W3CDTF">2013-01-27T09:14:16Z</dcterms:created>
  <dcterms:modified xsi:type="dcterms:W3CDTF">2026-08-14T13:47:41Z</dcterms:modified>
  <cp:category/>
</cp:coreProperties>
</file>